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Welcome, everyone. Today, we delve into the innovative world of MAS-ZERO, a groundbreaking framework that revolutionizes multi-agent system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motivation behind MAS-ZERO stems from the urgent need to tackle intricate tasks that challenge the limits of single LLMs. By exploring multi-agent systems, we aim to unlock a new era of problem-solving adaptability and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 aims to revolutionize MAS design by automating the process, ensuring adaptability, and optimizing problem-solving efficiency. By dynamically tailoring MAS configurations, we unlock a new dimension of complexity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existing MAS approaches have made strides, they often fall short in terms of adaptability and efficiency. MAS-ZERO aims to bridge this gap by introducing a dynamic, self-evolved framework that overcomes these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MAS-ZERO's architecture is a meta-level design approach, where a meta-agent takes the lead in guiding the design process. This iterative approach ensures a dynamic and adaptable MAS configuration, addressing the limitations of static designs.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MAS-ZERO's implementation showcases a unique blend of meta-agent design and sub-MAS assignment. By leveraging LLMs for grammar and code generation, the framework ensures a robust and efficient technical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MAS-ZERO's performance is rigorously evaluated across a diverse range of benchmarks and LLM backbones. This comprehensive evaluation ensures the framework's effectiveness and adaptability.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MAS-ZERO's empirical results are impressive, outperforming strong baselines with substantial accuracy improvements. This demonstrates the framework's effectiveness and potential for real-world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 studies reveal the critical role of meta-feedback in MAS-ZERO's performance. The framework's robustness and adaptability are further emphasized by its consistent performance across hyperparameter variations.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MAS-ZERO's contributions are groundbreaking, introducing a dynamic and self-evolved MAS design framework. This innovation has the potential to revolutionize the field, offering new possibilities for complex problem solving.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MAS-ZERO has achieved impressive results, there are still areas for improvement. Future work aims to address identified limitations and explore new avenues, ultimately contributing to the long-term vision of advancing multi-agent systems and LLM-based problem-solving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5303520" cy="3840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F46E5"/>
                </a:solidFill>
                <a:latin typeface="Calibri"/>
              </a:rPr>
              <a:t>RESEARCHX • FINAL-YEAR PROJECT DEFENSE &amp; VIVA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Calibri"/>
              </a:defRPr>
            </a:pPr>
            <a:r>
              <a:t>MAS-ZERO: Designing Multi-Agent Systems with Zero Supervision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i="1">
                <a:solidFill>
                  <a:srgbClr val="64748B"/>
                </a:solidFill>
                <a:latin typeface="Calibri"/>
              </a:defRPr>
            </a:pPr>
            <a:r>
              <a:t>Comprehensive investigation of MAS-ZERO, a framework for automatic MAS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46120"/>
            <a:ext cx="51206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246120"/>
            <a:ext cx="512064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4F46E5"/>
                </a:solidFill>
                <a:latin typeface="Calibri"/>
              </a:rPr>
              <a:t>RESEARCH IDENTITY &amp; INVESTIGATORS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49039"/>
            <a:ext cx="46634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Paper Title: </a:t>
            </a:r>
            <a:r>
              <a:rPr sz="1350">
                <a:solidFill>
                  <a:srgbClr val="334155"/>
                </a:solidFill>
                <a:latin typeface="Calibri"/>
              </a:rPr>
              <a:t>MAS-ZERO: Designing Multi-Agent Systems with Zero Supervision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Authors &amp; Affiliation: </a:t>
            </a:r>
            <a:r>
              <a:rPr sz="1350">
                <a:solidFill>
                  <a:srgbClr val="334155"/>
                </a:solidFill>
                <a:latin typeface="Calibri"/>
              </a:rPr>
              <a:t>Zixuan Ke, Austin Xu, Yifei Ming, Xuan-Phi Nguyen, Ryan Chin, Caiming Xiong, Shafiq Joty (Salesforce AI Research, Massachusetts Institute of Technology)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3246120"/>
            <a:ext cx="51206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095" y="3246120"/>
            <a:ext cx="5120640" cy="384048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TARGET VENUE &amp; CORE 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695" y="3749039"/>
            <a:ext cx="466344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Target Venue / Domain: </a:t>
            </a:r>
            <a:r>
              <a:rPr sz="1350">
                <a:solidFill>
                  <a:srgbClr val="334155"/>
                </a:solidFill>
                <a:latin typeface="Calibri"/>
              </a:rPr>
              <a:t>39th Conference on Neural Information Processing Systems (NeurIPS 2025) Workshop: Scaling Environments for Agents (SEA)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2563EB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Core Research Theme: </a:t>
            </a:r>
            <a:r>
              <a:rPr sz="1350">
                <a:solidFill>
                  <a:srgbClr val="334155"/>
                </a:solidFill>
                <a:latin typeface="Calibri"/>
              </a:rPr>
              <a:t>Exploring the potential of multi-agent systems (MAS) leveraging LLMs for complex task solving.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 b="1">
                <a:solidFill>
                  <a:srgbClr val="0F172A"/>
                </a:solidFill>
                <a:latin typeface="Calibri"/>
              </a:rPr>
              <a:t>             •             Slide 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RESEARCH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Addressing Complex Tasks with Multi-Agent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LLMs struggle with intricate tasks, necessitating MAS exploration.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02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SCIENTIFIC CHALLENGES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Scientific Challenge: </a:t>
            </a:r>
            <a:r>
              <a:rPr sz="1350">
                <a:solidFill>
                  <a:srgbClr val="334155"/>
                </a:solidFill>
                <a:latin typeface="Calibri"/>
              </a:rPr>
              <a:t>Solving complex problems that surpass the capabilities of standalone LLMs.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350" b="1">
                <a:solidFill>
                  <a:srgbClr val="4F46E5"/>
                </a:solidFill>
                <a:latin typeface="Calibri"/>
              </a:rPr>
              <a:t>•  </a:t>
            </a:r>
            <a:r>
              <a:rPr sz="1350" b="1">
                <a:solidFill>
                  <a:srgbClr val="0F172A"/>
                </a:solidFill>
                <a:latin typeface="Calibri"/>
              </a:rPr>
              <a:t>Industry &amp; Academic Urgency: </a:t>
            </a:r>
            <a:r>
              <a:rPr sz="1350">
                <a:solidFill>
                  <a:srgbClr val="334155"/>
                </a:solidFill>
                <a:latin typeface="Calibri"/>
              </a:rPr>
              <a:t>Existing MAS designs often fail to align with LLM strengths and lack adaptability.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INDUSTRY URGENCY &amp; RESEARCH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Critical Bottleneck: </a:t>
            </a:r>
            <a:r>
              <a:rPr sz="1500">
                <a:solidFill>
                  <a:srgbClr val="334155"/>
                </a:solidFill>
                <a:latin typeface="Calibri"/>
              </a:rPr>
              <a:t>Designing effective connections and configurations of LLM agents within MAS.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Research Opportunity: </a:t>
            </a:r>
            <a:r>
              <a:rPr sz="1500">
                <a:solidFill>
                  <a:srgbClr val="334155"/>
                </a:solidFill>
                <a:latin typeface="Calibri"/>
              </a:rPr>
              <a:t>Developing an automatic, self-evolved MAS design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Overcoming Manual MAS Design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Automating MAS design to enhance adaptability and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03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PROBLEM FORMULATION &amp;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Primary Objective: </a:t>
            </a:r>
            <a:r>
              <a:rPr sz="1500">
                <a:solidFill>
                  <a:srgbClr val="334155"/>
                </a:solidFill>
                <a:latin typeface="Calibri"/>
              </a:rPr>
              <a:t>Develop a self-evolved, inference-time framework for automatic MAS design.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Secondary Aims: </a:t>
            </a:r>
            <a:r>
              <a:rPr sz="1500">
                <a:solidFill>
                  <a:srgbClr val="334155"/>
                </a:solidFill>
                <a:latin typeface="Calibri"/>
              </a:rPr>
              <a:t>Iterative design, critique, and refinement of MAS configurations tailored to each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CORE RESEARCH OBJECTIVES &amp; 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Theoretical Scope: </a:t>
            </a:r>
            <a:r>
              <a:rPr sz="1500">
                <a:solidFill>
                  <a:srgbClr val="334155"/>
                </a:solidFill>
                <a:latin typeface="Calibri"/>
              </a:rPr>
              <a:t>Focus on LLM-based agents within MAS, exploring diverse roles and interactions.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Expected Outcome: </a:t>
            </a:r>
            <a:r>
              <a:rPr sz="1500">
                <a:solidFill>
                  <a:srgbClr val="334155"/>
                </a:solidFill>
                <a:latin typeface="Calibri"/>
              </a:rPr>
              <a:t>Dynamic problem decomposition, agent composition, and reduction to simpler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LITERATURE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Limitations of Existing MAS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Existing MAS approaches fall short in adaptability and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04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STATE-OF-THE-ART &amp; PRIOR APPROACHES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Foundational Approaches: </a:t>
            </a:r>
            <a:r>
              <a:rPr sz="1500">
                <a:solidFill>
                  <a:srgbClr val="334155"/>
                </a:solidFill>
                <a:latin typeface="Calibri"/>
              </a:rPr>
              <a:t>Handcrafted MAS designs with manual agent roles and protocols.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Inherent Constraints: </a:t>
            </a:r>
            <a:r>
              <a:rPr sz="1500">
                <a:solidFill>
                  <a:srgbClr val="334155"/>
                </a:solidFill>
                <a:latin typeface="Calibri"/>
              </a:rPr>
              <a:t>Failure to align with LLM strengths, struggle with novel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CRITICAL BOTTLENECKS &amp; BRIDGED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Efficiency Bottlenecks: </a:t>
            </a:r>
            <a:r>
              <a:rPr sz="1500">
                <a:solidFill>
                  <a:srgbClr val="334155"/>
                </a:solidFill>
                <a:latin typeface="Calibri"/>
              </a:rPr>
              <a:t>Necessitate validation sets for tuning, yield static designs, and lack flexibility.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Identified Research Gap: </a:t>
            </a:r>
            <a:r>
              <a:rPr sz="1500">
                <a:solidFill>
                  <a:srgbClr val="334155"/>
                </a:solidFill>
                <a:latin typeface="Calibri"/>
              </a:rPr>
              <a:t>Need for an automatic, dynamic MAS design framework.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MAS-ZERO: A Meta-Level Design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MAS-ZERO employs meta-level design for iterative MAS configuration.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05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THEORETICAL FRAMEWORK &amp; CORE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System Architecture: </a:t>
            </a:r>
            <a:r>
              <a:rPr sz="1500">
                <a:solidFill>
                  <a:srgbClr val="334155"/>
                </a:solidFill>
                <a:latin typeface="Calibri"/>
              </a:rPr>
              <a:t>Meta-agent-driven design, critique, and refinement of MAS configurations.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Core Methodology: </a:t>
            </a:r>
            <a:r>
              <a:rPr sz="1500">
                <a:solidFill>
                  <a:srgbClr val="334155"/>
                </a:solidFill>
                <a:latin typeface="Calibri"/>
              </a:rPr>
              <a:t>Iterative process involving design, feedback, and evolution.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DATA FLOW &amp; ARCHITECTURAL MECHANICS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Data Flow &amp; Pipeline: </a:t>
            </a:r>
            <a:r>
              <a:rPr sz="1500">
                <a:solidFill>
                  <a:srgbClr val="334155"/>
                </a:solidFill>
                <a:latin typeface="Calibri"/>
              </a:rPr>
              <a:t>Dynamic problem decomposition and agent composition.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Design Philosophy: </a:t>
            </a:r>
            <a:r>
              <a:rPr sz="1500">
                <a:solidFill>
                  <a:srgbClr val="334155"/>
                </a:solidFill>
                <a:latin typeface="Calibri"/>
              </a:rPr>
              <a:t>Balancing exploration and improvement, informed by preliminary experiments.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MAS-ZERO's 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MAS-ZERO's implementation involves meta-agent design and sub-MAS assignment.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06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ALGORITHMIC MECHANICS &amp;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Core Algorithm: </a:t>
            </a:r>
            <a:r>
              <a:rPr sz="1500">
                <a:solidFill>
                  <a:srgbClr val="334155"/>
                </a:solidFill>
                <a:latin typeface="Calibri"/>
              </a:rPr>
              <a:t>Meta-agent designs sub-tasks and assigns sub-MAS.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Loss Functions &amp; Formulations: </a:t>
            </a:r>
            <a:r>
              <a:rPr sz="1500">
                <a:solidFill>
                  <a:srgbClr val="334155"/>
                </a:solidFill>
                <a:latin typeface="Calibri"/>
              </a:rPr>
              <a:t>Not specified in the paper.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SYSTEM PIPELINE &amp; COMPUTATIONAL PROTOCOLS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Hyperparameters &amp; Dynamics: </a:t>
            </a:r>
            <a:r>
              <a:rPr sz="1500">
                <a:solidFill>
                  <a:srgbClr val="334155"/>
                </a:solidFill>
                <a:latin typeface="Calibri"/>
              </a:rPr>
              <a:t>Temperature, number of debate rounds, and block parameters.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Implementation Highlights: </a:t>
            </a:r>
            <a:r>
              <a:rPr sz="1500">
                <a:solidFill>
                  <a:srgbClr val="334155"/>
                </a:solidFill>
                <a:latin typeface="Calibri"/>
              </a:rPr>
              <a:t>Utilizes LLMs for grammar polishing and code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Evaluating MAS-ZERO's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Comprehensive evaluation across diverse benchmarks and LLMs.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07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BENCHMARK DATASETS &amp; HARDWARE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Benchmark Datasets: </a:t>
            </a:r>
            <a:r>
              <a:rPr sz="1500">
                <a:solidFill>
                  <a:srgbClr val="334155"/>
                </a:solidFill>
                <a:latin typeface="Calibri"/>
              </a:rPr>
              <a:t>Reasoning (math and graduate-level QA), coding, and agentic (search-based) tasks.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Baseline Models: </a:t>
            </a:r>
            <a:r>
              <a:rPr sz="1500">
                <a:solidFill>
                  <a:srgbClr val="334155"/>
                </a:solidFill>
                <a:latin typeface="Calibri"/>
              </a:rPr>
              <a:t>Strong manual and automatic MAS baselines.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COMPARATIVE BASELINES &amp; EVALUATION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Evaluation Metrics: </a:t>
            </a:r>
            <a:r>
              <a:rPr sz="1500">
                <a:solidFill>
                  <a:srgbClr val="334155"/>
                </a:solidFill>
                <a:latin typeface="Calibri"/>
              </a:rPr>
              <a:t>Accuracy improvements on reasoning, coding, and agentic tasks.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Hardware &amp; Environment: </a:t>
            </a:r>
            <a:r>
              <a:rPr sz="1500">
                <a:solidFill>
                  <a:srgbClr val="334155"/>
                </a:solidFill>
                <a:latin typeface="Calibri"/>
              </a:rPr>
              <a:t>Closed-source and open-source LLM backbones of varying sizes.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EMPIRICAL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MAS-ZERO's Superior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MAS-ZERO outperforms baselines with substantial accuracy improvements.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08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PRIMARY BENCHMARK FINDINGS &amp;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Primary Performance: </a:t>
            </a:r>
            <a:r>
              <a:rPr sz="1500">
                <a:solidFill>
                  <a:srgbClr val="334155"/>
                </a:solidFill>
                <a:latin typeface="Calibri"/>
              </a:rPr>
              <a:t>Up to 16.69% accuracy improvement on reasoning tasks.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Direct Baseline Comparison: </a:t>
            </a:r>
            <a:r>
              <a:rPr sz="1500">
                <a:solidFill>
                  <a:srgbClr val="334155"/>
                </a:solidFill>
                <a:latin typeface="Calibri"/>
              </a:rPr>
              <a:t>Up to 16.66% improvement over baselines on coding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COMPARATIVE ANALYSIS &amp; SOTA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Efficiency Metrics: </a:t>
            </a:r>
            <a:r>
              <a:rPr sz="1500">
                <a:solidFill>
                  <a:srgbClr val="334155"/>
                </a:solidFill>
                <a:latin typeface="Calibri"/>
              </a:rPr>
              <a:t>Maintains cost efficiency while achieving higher accuracy.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Empirical Significance: </a:t>
            </a:r>
            <a:r>
              <a:rPr sz="1500">
                <a:solidFill>
                  <a:srgbClr val="334155"/>
                </a:solidFill>
                <a:latin typeface="Calibri"/>
              </a:rPr>
              <a:t>Consistent performance across trials, demonstrating robustness.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Comparative Analysis and Ablation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MAS-ZERO's advantages over baselines and component importance.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09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PRIMARY BENCHMARK FINDINGS &amp;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Ablation Findings: </a:t>
            </a:r>
            <a:r>
              <a:rPr sz="1500">
                <a:solidFill>
                  <a:srgbClr val="334155"/>
                </a:solidFill>
                <a:latin typeface="Calibri"/>
              </a:rPr>
              <a:t>Meta-feedback on solvability and completeness enhances performance.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Sensitivity Analysis: </a:t>
            </a:r>
            <a:r>
              <a:rPr sz="1500">
                <a:solidFill>
                  <a:srgbClr val="334155"/>
                </a:solidFill>
                <a:latin typeface="Calibri"/>
              </a:rPr>
              <a:t>Robust performance across variations in hyperparameters.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COMPARATIVE ANALYSIS &amp; SOTA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Failure Cases &amp; Outliers: </a:t>
            </a:r>
            <a:r>
              <a:rPr sz="1500">
                <a:solidFill>
                  <a:srgbClr val="334155"/>
                </a:solidFill>
                <a:latin typeface="Calibri"/>
              </a:rPr>
              <a:t>Not specified in the paper.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Convergence Behavior: </a:t>
            </a:r>
            <a:r>
              <a:rPr sz="1500">
                <a:solidFill>
                  <a:srgbClr val="334155"/>
                </a:solidFill>
                <a:latin typeface="Calibri"/>
              </a:rPr>
              <a:t>Not discussed in the paper.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RESEARCH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MAS-ZERO's Novel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MAS-ZERO introduces a dynamic, self-evolved MAS design framework.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10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NOVEL TECHNICAL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Primary Innovation: </a:t>
            </a:r>
            <a:r>
              <a:rPr sz="1500">
                <a:solidFill>
                  <a:srgbClr val="334155"/>
                </a:solidFill>
                <a:latin typeface="Calibri"/>
              </a:rPr>
              <a:t>First self-evolved, inference-time framework for automatic MAS design.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Theoretical Advance: </a:t>
            </a:r>
            <a:r>
              <a:rPr sz="1500">
                <a:solidFill>
                  <a:srgbClr val="334155"/>
                </a:solidFill>
                <a:latin typeface="Calibri"/>
              </a:rPr>
              <a:t>Meta-level design approach for iterative MAS configuration.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METHODOLOGICAL ADVANTAGES &amp; SIGNIFICANCE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Practical Utility: </a:t>
            </a:r>
            <a:r>
              <a:rPr sz="1500">
                <a:solidFill>
                  <a:srgbClr val="334155"/>
                </a:solidFill>
                <a:latin typeface="Calibri"/>
              </a:rPr>
              <a:t>Dynamic problem decomposition and agent composition.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Scholarly Impact: </a:t>
            </a:r>
            <a:r>
              <a:rPr sz="1500">
                <a:solidFill>
                  <a:srgbClr val="334155"/>
                </a:solidFill>
                <a:latin typeface="Calibri"/>
              </a:rPr>
              <a:t>Advances the state of the art in MAS design and LLM-based problem solving.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4577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4577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Calibri"/>
              </a:defRPr>
            </a:pPr>
            <a:r>
              <a:t>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>
                <a:solidFill>
                  <a:srgbClr val="64748B"/>
                </a:solidFill>
                <a:latin typeface="Calibri"/>
              </a:rPr>
              <a:t>MAS-ZERO's limitations and future research directions.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36208"/>
            <a:ext cx="10545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27648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ResearchX Academic Automation Platform  |  College Final-Year Project Presentation</a:t>
            </a:r>
            <a:r>
              <a:rPr sz="900">
                <a:solidFill>
                  <a:srgbClr val="64748B"/>
                </a:solidFill>
                <a:latin typeface="Calibri"/>
              </a:rPr>
              <a:t>     •   research paper7   •     </a:t>
            </a:r>
            <a:r>
              <a:rPr sz="900" b="1">
                <a:solidFill>
                  <a:srgbClr val="0F172A"/>
                </a:solidFill>
                <a:latin typeface="Calibri"/>
              </a:rPr>
              <a:t>Slide 11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SYNTHESIS OF EMPIRICAL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Identified Limitations: </a:t>
            </a:r>
            <a:r>
              <a:rPr sz="1500">
                <a:solidFill>
                  <a:srgbClr val="334155"/>
                </a:solidFill>
                <a:latin typeface="Calibri"/>
              </a:rPr>
              <a:t>Need for further exploration of failure cases and convergence behavior.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Summary of Findings: </a:t>
            </a:r>
            <a:r>
              <a:rPr sz="1500">
                <a:solidFill>
                  <a:srgbClr val="334155"/>
                </a:solidFill>
                <a:latin typeface="Calibri"/>
              </a:rPr>
              <a:t>MAS-ZERO's effectiveness in dynamic MAS design and performance improvements.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719072"/>
            <a:ext cx="512064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719072"/>
            <a:ext cx="5120640" cy="438912"/>
          </a:xfrm>
          <a:prstGeom prst="rect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LIMITATIONS &amp; FUTURE RESEARCH DIRECTIONS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2415" y="2286000"/>
            <a:ext cx="457200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Immediate Future Work: </a:t>
            </a:r>
            <a:r>
              <a:rPr sz="1500">
                <a:solidFill>
                  <a:srgbClr val="334155"/>
                </a:solidFill>
                <a:latin typeface="Calibri"/>
              </a:rPr>
              <a:t>Enhancing meta-feedback mechanisms and exploring new LLM applications.</a:t>
            </a:r>
          </a:p>
          <a:p>
            <a:pPr>
              <a:lnSpc>
                <a:spcPct val="132000"/>
              </a:lnSpc>
              <a:spcAft>
                <a:spcPts val="16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•  </a:t>
            </a:r>
            <a:r>
              <a:rPr sz="1500" b="1">
                <a:solidFill>
                  <a:srgbClr val="0F172A"/>
                </a:solidFill>
                <a:latin typeface="Calibri"/>
              </a:rPr>
              <a:t>Long-term Vision: </a:t>
            </a:r>
            <a:r>
              <a:rPr sz="1500">
                <a:solidFill>
                  <a:srgbClr val="334155"/>
                </a:solidFill>
                <a:latin typeface="Calibri"/>
              </a:rPr>
              <a:t>Advancing the field of multi-agent systems and LLM-based problem solving.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