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Welcome, everyone. Today, we delve into the innovative world of MAS-ZERO, a groundbreaking framework for automatic multi-agent system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rise of LLMs has revolutionized tasks, but complex problems demand more. MAS-ZERO aims to bridge this gap, offering a dynamic, efficient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goal is to create a flexible, adaptive MAS design process, ensuring each problem is tackled with a tailored, efficient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existing MAS approaches have strengths, they fall short in adaptability. MAS-ZERO aims to revolutionize this landscape with its innovative design philosophy.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architecture is a meta-level design, ensuring each problem is uniquely addressed. This dynamic approach is key to its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meta-agent's role is crucial, assigning sub-MAS dynamically. This process is guided by feedback, ensuring an efficient, tailored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performance is rigorously evaluated across diverse tasks, ensuring its effectiveness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empirical results are impressive, showcasing its ability to tackle complex tasks with precision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 studies provide valuable insights, guiding future enhancements. MAS-ZERO's performance is consistent and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contributions are groundbreaking, offering a new paradigm for multi-agent systems. Its impact is far-reaching, shaping the future of complex task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potential is immense, and its limitations are a call to action. With further development, it can revolutionize complex task solving, shaping the future of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5303520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F46E5"/>
                </a:solidFill>
                <a:latin typeface="Calibri"/>
              </a:rPr>
              <a:t>RESEARCHX • FINAL-YEAR PROJECT DEFENSE &amp;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MAS-ZERO: Revolutionizing Multi-Agent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Comprehensive investigation of MAS-ZERO's design and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51206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512064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4F46E5"/>
                </a:solidFill>
                <a:latin typeface="Calibri"/>
              </a:rPr>
              <a:t>RESEARCH IDENTITY &amp; INVESTIGATORS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49039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Paper Title: </a:t>
            </a:r>
            <a:r>
              <a:rPr sz="1500">
                <a:solidFill>
                  <a:srgbClr val="334155"/>
                </a:solidFill>
                <a:latin typeface="Calibri"/>
              </a:rPr>
              <a:t>MAS-ZERO: Designing Multi-Agent Systems with Zero Supervision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Authors &amp; Affiliation: </a:t>
            </a:r>
            <a:r>
              <a:rPr sz="1500">
                <a:solidFill>
                  <a:srgbClr val="334155"/>
                </a:solidFill>
                <a:latin typeface="Calibri"/>
              </a:rPr>
              <a:t>Zixuan Ke, Austin Xu, Yifei Ming, et al., Salesforce AI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3246120"/>
            <a:ext cx="51206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3246120"/>
            <a:ext cx="512064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TARGET VENUE &amp; CORE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3749039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Target Venue / Domain: </a:t>
            </a:r>
            <a:r>
              <a:rPr sz="1500">
                <a:solidFill>
                  <a:srgbClr val="334155"/>
                </a:solidFill>
                <a:latin typeface="Calibri"/>
              </a:rPr>
              <a:t>39th Conference on Neural Information Processing Systems (NeurIPS 2025)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Core Research Theme: </a:t>
            </a:r>
            <a:r>
              <a:rPr sz="1500">
                <a:solidFill>
                  <a:srgbClr val="334155"/>
                </a:solidFill>
                <a:latin typeface="Calibri"/>
              </a:rPr>
              <a:t>Enhancing complex task solving with multi-agent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 b="1">
                <a:solidFill>
                  <a:srgbClr val="0F172A"/>
                </a:solidFill>
                <a:latin typeface="Calibri"/>
              </a:rPr>
              <a:t>             •             Slide 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RESEARCH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Addressing Complex Tasks with 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Overcoming limitations of standalone LLMs.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SCIENTIFIC CHALLENGES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Scientific Challenge: </a:t>
            </a:r>
            <a:r>
              <a:rPr sz="1500">
                <a:solidFill>
                  <a:srgbClr val="334155"/>
                </a:solidFill>
                <a:latin typeface="Calibri"/>
              </a:rPr>
              <a:t>Solving intricate tasks with single LLMs.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Industry &amp; Academic Urgency: </a:t>
            </a:r>
            <a:r>
              <a:rPr sz="1500">
                <a:solidFill>
                  <a:srgbClr val="334155"/>
                </a:solidFill>
                <a:latin typeface="Calibri"/>
              </a:rPr>
              <a:t>Need for adaptable, efficient solutions.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INDUSTRY URGENCY &amp; RESEARCH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Critical Bottleneck: </a:t>
            </a:r>
            <a:r>
              <a:rPr sz="1500">
                <a:solidFill>
                  <a:srgbClr val="334155"/>
                </a:solidFill>
                <a:latin typeface="Calibri"/>
              </a:rPr>
              <a:t>Manual MAS design struggles with novel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Research Opportunity: </a:t>
            </a:r>
            <a:r>
              <a:rPr sz="1500">
                <a:solidFill>
                  <a:srgbClr val="334155"/>
                </a:solidFill>
                <a:latin typeface="Calibri"/>
              </a:rPr>
              <a:t>Automatic, dynamic MAS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Core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Tailoring MAS design to specific problems.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PROBLEM FORMULATION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Objective: </a:t>
            </a:r>
            <a:r>
              <a:rPr sz="1500">
                <a:solidFill>
                  <a:srgbClr val="334155"/>
                </a:solidFill>
                <a:latin typeface="Calibri"/>
              </a:rPr>
              <a:t>Automatic MAS design for complex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Secondary Aims: </a:t>
            </a:r>
            <a:r>
              <a:rPr sz="1500">
                <a:solidFill>
                  <a:srgbClr val="334155"/>
                </a:solidFill>
                <a:latin typeface="Calibri"/>
              </a:rPr>
              <a:t>Dynamic problem decomposition, agent composition.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CORE RESEARCH OBJECTIVES &amp;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Theoretical Scope: </a:t>
            </a:r>
            <a:r>
              <a:rPr sz="1500">
                <a:solidFill>
                  <a:srgbClr val="334155"/>
                </a:solidFill>
                <a:latin typeface="Calibri"/>
              </a:rPr>
              <a:t>Multi-agent systems with LLM agents.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Expected Outcome: </a:t>
            </a:r>
            <a:r>
              <a:rPr sz="1500">
                <a:solidFill>
                  <a:srgbClr val="334155"/>
                </a:solidFill>
                <a:latin typeface="Calibri"/>
              </a:rPr>
              <a:t>Enhanced task-solving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LITERATURE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Overcoming Manual MAS Design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Addressing limitations of existing approaches.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STATE-OF-THE-ART &amp; PRIOR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Foundational Approaches: </a:t>
            </a:r>
            <a:r>
              <a:rPr sz="1500">
                <a:solidFill>
                  <a:srgbClr val="334155"/>
                </a:solidFill>
                <a:latin typeface="Calibri"/>
              </a:rPr>
              <a:t>Handcrafted MAS, automatic MAS.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Inherent Constraints: </a:t>
            </a:r>
            <a:r>
              <a:rPr sz="1500">
                <a:solidFill>
                  <a:srgbClr val="334155"/>
                </a:solidFill>
                <a:latin typeface="Calibri"/>
              </a:rPr>
              <a:t>Lack of adaptability, static designs.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CRITICAL BOTTLENECKS &amp; BRIDGED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Efficiency Bottlenecks: </a:t>
            </a:r>
            <a:r>
              <a:rPr sz="1500">
                <a:solidFill>
                  <a:srgbClr val="334155"/>
                </a:solidFill>
                <a:latin typeface="Calibri"/>
              </a:rPr>
              <a:t>High cost, limited flexibility.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Research Gap: </a:t>
            </a:r>
            <a:r>
              <a:rPr sz="1500">
                <a:solidFill>
                  <a:srgbClr val="334155"/>
                </a:solidFill>
                <a:latin typeface="Calibri"/>
              </a:rPr>
              <a:t>Dynamic, self-evolved MAS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Innovative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Meta-level design for dynamic MAS.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THEORETICAL FRAMEWORK &amp; CORE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System Architecture: </a:t>
            </a:r>
            <a:r>
              <a:rPr sz="1500">
                <a:solidFill>
                  <a:srgbClr val="334155"/>
                </a:solidFill>
                <a:latin typeface="Calibri"/>
              </a:rPr>
              <a:t>Meta-agent, sub-MAS, building blocks.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Core Methodology: </a:t>
            </a:r>
            <a:r>
              <a:rPr sz="1500">
                <a:solidFill>
                  <a:srgbClr val="334155"/>
                </a:solidFill>
                <a:latin typeface="Calibri"/>
              </a:rPr>
              <a:t>Iterative design, critique, refinement.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DATA FLOW &amp; ARCHITECTURAL MECHANICS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Data Flow &amp; Pipeline: </a:t>
            </a:r>
            <a:r>
              <a:rPr sz="1500">
                <a:solidFill>
                  <a:srgbClr val="334155"/>
                </a:solidFill>
                <a:latin typeface="Calibri"/>
              </a:rPr>
              <a:t>Dynamic problem decomposition, agent assignment.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Design Philosophy: </a:t>
            </a:r>
            <a:r>
              <a:rPr sz="1500">
                <a:solidFill>
                  <a:srgbClr val="334155"/>
                </a:solidFill>
                <a:latin typeface="Calibri"/>
              </a:rPr>
              <a:t>Balancing exploration and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Step-by-step MAS design process.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06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ALGORITHMIC MECHANICS &amp;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Core Algorithm: </a:t>
            </a:r>
            <a:r>
              <a:rPr sz="1500">
                <a:solidFill>
                  <a:srgbClr val="334155"/>
                </a:solidFill>
                <a:latin typeface="Calibri"/>
              </a:rPr>
              <a:t>Meta-agent assigns sub-MAS to sub-tasks.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Loss Functions: </a:t>
            </a:r>
            <a:r>
              <a:rPr sz="1500">
                <a:solidFill>
                  <a:srgbClr val="334155"/>
                </a:solidFill>
                <a:latin typeface="Calibri"/>
              </a:rPr>
              <a:t>Solvability, completeness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SYSTEM PIPELINE &amp; COMPUTATIONAL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Hyperparameters: </a:t>
            </a:r>
            <a:r>
              <a:rPr sz="1500">
                <a:solidFill>
                  <a:srgbClr val="334155"/>
                </a:solidFill>
                <a:latin typeface="Calibri"/>
              </a:rPr>
              <a:t>Temperature, debate rounds.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Implementation Highlights: </a:t>
            </a:r>
            <a:r>
              <a:rPr sz="1500">
                <a:solidFill>
                  <a:srgbClr val="334155"/>
                </a:solidFill>
                <a:latin typeface="Calibri"/>
              </a:rPr>
              <a:t>Code templates, LLM grammar polishing.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Empirical Validation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Rigorous evaluation across diverse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BENCHMARK DATASETS &amp; HARDWARE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Benchmark Datasets: </a:t>
            </a:r>
            <a:r>
              <a:rPr sz="1500">
                <a:solidFill>
                  <a:srgbClr val="334155"/>
                </a:solidFill>
                <a:latin typeface="Calibri"/>
              </a:rPr>
              <a:t>Reasoning, coding, agentic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Baseline Models: </a:t>
            </a:r>
            <a:r>
              <a:rPr sz="1500">
                <a:solidFill>
                  <a:srgbClr val="334155"/>
                </a:solidFill>
                <a:latin typeface="Calibri"/>
              </a:rPr>
              <a:t>CoT, CoT-SC, Self-Refine, Debate.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BASELINES &amp; 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Evaluation Metrics: </a:t>
            </a:r>
            <a:r>
              <a:rPr sz="1500">
                <a:solidFill>
                  <a:srgbClr val="334155"/>
                </a:solidFill>
                <a:latin typeface="Calibri"/>
              </a:rPr>
              <a:t>Accuracy, cost efficiency.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Hardware: </a:t>
            </a:r>
            <a:r>
              <a:rPr sz="1500">
                <a:solidFill>
                  <a:srgbClr val="334155"/>
                </a:solidFill>
                <a:latin typeface="Calibri"/>
              </a:rPr>
              <a:t>Closed-source, open-source LLM backbones.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Outstanding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Substantial accuracy improvements.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PRIMARY BENCHMARK FINDINGS &amp;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Performance: </a:t>
            </a:r>
            <a:r>
              <a:rPr sz="1500">
                <a:solidFill>
                  <a:srgbClr val="334155"/>
                </a:solidFill>
                <a:latin typeface="Calibri"/>
              </a:rPr>
              <a:t>Up to 16.69% accuracy improvement on reasoning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Baseline Comparison: </a:t>
            </a:r>
            <a:r>
              <a:rPr sz="1500">
                <a:solidFill>
                  <a:srgbClr val="334155"/>
                </a:solidFill>
                <a:latin typeface="Calibri"/>
              </a:rPr>
              <a:t>Outperforms manual and automatic MAS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ANALYSIS &amp; SOTA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Efficiency Metrics: </a:t>
            </a:r>
            <a:r>
              <a:rPr sz="1500">
                <a:solidFill>
                  <a:srgbClr val="334155"/>
                </a:solidFill>
                <a:latin typeface="Calibri"/>
              </a:rPr>
              <a:t>Maintains cost efficiency.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Empirical Significance: </a:t>
            </a:r>
            <a:r>
              <a:rPr sz="1500">
                <a:solidFill>
                  <a:srgbClr val="334155"/>
                </a:solidFill>
                <a:latin typeface="Calibri"/>
              </a:rPr>
              <a:t>Consistent, robust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Comparative Insights &amp; Ablation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Understanding component importance.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PRIMARY BENCHMARK FINDINGS &amp;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Ablation Findings: </a:t>
            </a:r>
            <a:r>
              <a:rPr sz="1500">
                <a:solidFill>
                  <a:srgbClr val="334155"/>
                </a:solidFill>
                <a:latin typeface="Calibri"/>
              </a:rPr>
              <a:t>Meta-feedback on solvability, completeness is crucial.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Sensitivity Analysis: </a:t>
            </a:r>
            <a:r>
              <a:rPr sz="1500">
                <a:solidFill>
                  <a:srgbClr val="334155"/>
                </a:solidFill>
                <a:latin typeface="Calibri"/>
              </a:rPr>
              <a:t>Robust across hyperparameter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ANALYSIS &amp; SOTA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Failure Cases: </a:t>
            </a:r>
            <a:r>
              <a:rPr sz="1500">
                <a:solidFill>
                  <a:srgbClr val="334155"/>
                </a:solidFill>
                <a:latin typeface="Calibri"/>
              </a:rPr>
              <a:t>Identified limitations for future improvement.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Convergence: </a:t>
            </a:r>
            <a:r>
              <a:rPr sz="1500">
                <a:solidFill>
                  <a:srgbClr val="334155"/>
                </a:solidFill>
                <a:latin typeface="Calibri"/>
              </a:rPr>
              <a:t>Stable optimization and scaling.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RESEARCH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Academic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Advancing the state of the 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NOVEL TECHNICAL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Innovation: </a:t>
            </a:r>
            <a:r>
              <a:rPr sz="1500">
                <a:solidFill>
                  <a:srgbClr val="334155"/>
                </a:solidFill>
                <a:latin typeface="Calibri"/>
              </a:rPr>
              <a:t>Self-evolved, inference-time MAS design.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Theoretical Advance: </a:t>
            </a:r>
            <a:r>
              <a:rPr sz="1500">
                <a:solidFill>
                  <a:srgbClr val="334155"/>
                </a:solidFill>
                <a:latin typeface="Calibri"/>
              </a:rPr>
              <a:t>Meta-level design philosophy.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METHODOLOGICAL ADVANTAGES &amp; SIGNIFICANCE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Practical Utility: </a:t>
            </a:r>
            <a:r>
              <a:rPr sz="1500">
                <a:solidFill>
                  <a:srgbClr val="334155"/>
                </a:solidFill>
                <a:latin typeface="Calibri"/>
              </a:rPr>
              <a:t>Enhanced task-solving capabilities.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Scholarly Impact: </a:t>
            </a:r>
            <a:r>
              <a:rPr sz="1500">
                <a:solidFill>
                  <a:srgbClr val="334155"/>
                </a:solidFill>
                <a:latin typeface="Calibri"/>
              </a:rPr>
              <a:t>Revolutionizing multi-agent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Future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A promising roadmap ahead.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11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SYNTHESIS OF EMPIRICAL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Identified Limitations: </a:t>
            </a:r>
            <a:r>
              <a:rPr sz="1500">
                <a:solidFill>
                  <a:srgbClr val="334155"/>
                </a:solidFill>
                <a:latin typeface="Calibri"/>
              </a:rPr>
              <a:t>Need for further refinement, scalability.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Summary of Findings: </a:t>
            </a:r>
            <a:r>
              <a:rPr sz="1500">
                <a:solidFill>
                  <a:srgbClr val="334155"/>
                </a:solidFill>
                <a:latin typeface="Calibri"/>
              </a:rPr>
              <a:t>Dynamic, efficient MAS design proven.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LIMITATIONS &amp; FUTURE RESEARCH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Immediate Future Work: </a:t>
            </a:r>
            <a:r>
              <a:rPr sz="1500">
                <a:solidFill>
                  <a:srgbClr val="334155"/>
                </a:solidFill>
                <a:latin typeface="Calibri"/>
              </a:rPr>
              <a:t>Enhancing meta-feedback, scalability.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Long-term Vision: </a:t>
            </a:r>
            <a:r>
              <a:rPr sz="1500">
                <a:solidFill>
                  <a:srgbClr val="334155"/>
                </a:solidFill>
                <a:latin typeface="Calibri"/>
              </a:rPr>
              <a:t>Widespread adoption, industrial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