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Welcome, everyone. Today, we delve into the world of MAS-ZERO, a groundbreaking framework that revolutionizes the design of multi-agent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motivation behind MAS-ZERO stems from the need to tackle complex problems that go beyond the reach of single LLMs. By exploring multi-agent systems, we aim to unlock new possibilities for efficient problem-solving.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MAS-ZERO aims to overcome the limitations of manual MAS design by introducing an automatic process. Our goal is to design a flexible and adaptable framework that can handle a wide range of complex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While existing MAS approaches have made progress, they often fall short in terms of flexibility and adaptability. MAS-ZERO aims to bridge this gap by introducing a dynamic and self-evolved design process.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MAS-ZERO employs a meta-level design strategy, utilizing a meta-agent to guide the design process. This architecture ensures a systematic and controlled approach to MAS design, focusing on task decomposition and agent assignment.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algorithmic flow of MAS-ZERO involves a meta-agent that dynamically assigns sub-MAS to sub-tasks. This process is guided by meta-feedback on solvability and completeness, ensuring an efficient and effective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evaluate MAS-ZERO's effectiveness, we conducted experiments on a range of benchmarks. The results demonstrate its superiority over strong manual and automatic MAS baselines, showcasing its adaptability and 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MAS-ZERO's empirical results are impressive, showcasing significant accuracy improvements across various tasks. This demonstrates its ability to tackle complex problems effectively while maintaining efficiency.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Ablation studies highlight the importance of MAS-ZERO's dynamic design approach. The framework's ability to adapt and refine MAS configurations contributes to its overall success.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MAS-ZERO represents a significant advancement in the field of multi-agent systems. Its novel approach to automatic design and its empirical success position it as a groundbreaking contribution to the research community.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While MAS-ZERO has demonstrated remarkable results, there are still areas for improvement. Future research can focus on enhancing its capabilities and exploring its potential in various real-world applications. The future looks promising for MAS-ZERO and its impact on the field of multi-agent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640080"/>
            <a:ext cx="5303520" cy="38404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4F46E5"/>
                </a:solidFill>
                <a:latin typeface="Calibri"/>
              </a:rPr>
              <a:t>RESEARCHX • FINAL-YEAR PROJECT DEFENSE &amp; VIVA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545775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Calibri"/>
              </a:defRPr>
            </a:pPr>
            <a:r>
              <a:t>MAS-ZERO: Designing Multi-Agent Systems with Zero Supervision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97480"/>
            <a:ext cx="105457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i="1">
                <a:solidFill>
                  <a:srgbClr val="64748B"/>
                </a:solidFill>
                <a:latin typeface="Calibri"/>
              </a:defRPr>
            </a:pPr>
            <a:r>
              <a:t>Comprehensive investigation of MAS-ZERO, an innovative framework for automatic MAS design.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246120"/>
            <a:ext cx="5120640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3246120"/>
            <a:ext cx="5120640" cy="384048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 b="1">
                <a:solidFill>
                  <a:srgbClr val="4F46E5"/>
                </a:solidFill>
                <a:latin typeface="Calibri"/>
              </a:rPr>
              <a:t>RESEARCH IDENTITY &amp; INVESTIGATORS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749039"/>
            <a:ext cx="4663440" cy="2148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350" b="1">
                <a:solidFill>
                  <a:srgbClr val="4F46E5"/>
                </a:solidFill>
                <a:latin typeface="Calibri"/>
              </a:rPr>
              <a:t>•  </a:t>
            </a:r>
            <a:r>
              <a:rPr sz="1350" b="1">
                <a:solidFill>
                  <a:srgbClr val="0F172A"/>
                </a:solidFill>
                <a:latin typeface="Calibri"/>
              </a:rPr>
              <a:t>Paper Title: </a:t>
            </a:r>
            <a:r>
              <a:rPr sz="1350">
                <a:solidFill>
                  <a:srgbClr val="334155"/>
                </a:solidFill>
                <a:latin typeface="Calibri"/>
              </a:rPr>
              <a:t>MAS-ZERO: Designing Multi-Agent Systems with Zero Supervision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350" b="1">
                <a:solidFill>
                  <a:srgbClr val="4F46E5"/>
                </a:solidFill>
                <a:latin typeface="Calibri"/>
              </a:rPr>
              <a:t>•  </a:t>
            </a:r>
            <a:r>
              <a:rPr sz="1350" b="1">
                <a:solidFill>
                  <a:srgbClr val="0F172A"/>
                </a:solidFill>
                <a:latin typeface="Calibri"/>
              </a:rPr>
              <a:t>Authors &amp; Affiliation: </a:t>
            </a:r>
            <a:r>
              <a:rPr sz="1350">
                <a:solidFill>
                  <a:srgbClr val="334155"/>
                </a:solidFill>
                <a:latin typeface="Calibri"/>
              </a:rPr>
              <a:t>Zixuan Ke, Austin Xu, Yifei Ming, Xuan-Phi Nguyen, Ryan Chin, Caiming Xiong, Shafiq Joty (Salesforce AI Research and Massachusetts Institute of Technology)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3246120"/>
            <a:ext cx="5120640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8095" y="3246120"/>
            <a:ext cx="5120640" cy="384048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 b="1">
                <a:solidFill>
                  <a:srgbClr val="2563EB"/>
                </a:solidFill>
                <a:latin typeface="Calibri"/>
              </a:rPr>
              <a:t>TARGET VENUE &amp; CORE THEME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6695" y="3749039"/>
            <a:ext cx="4663440" cy="2148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350" b="1">
                <a:solidFill>
                  <a:srgbClr val="2563EB"/>
                </a:solidFill>
                <a:latin typeface="Calibri"/>
              </a:rPr>
              <a:t>•  </a:t>
            </a:r>
            <a:r>
              <a:rPr sz="1350" b="1">
                <a:solidFill>
                  <a:srgbClr val="0F172A"/>
                </a:solidFill>
                <a:latin typeface="Calibri"/>
              </a:rPr>
              <a:t>Target Venue / Domain: </a:t>
            </a:r>
            <a:r>
              <a:rPr sz="1350">
                <a:solidFill>
                  <a:srgbClr val="334155"/>
                </a:solidFill>
                <a:latin typeface="Calibri"/>
              </a:rPr>
              <a:t>39th Conference on Neural Information Processing Systems (NeurIPS 2025) Workshop: Scaling Environments for Agents (SEA)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350" b="1">
                <a:solidFill>
                  <a:srgbClr val="2563EB"/>
                </a:solidFill>
                <a:latin typeface="Calibri"/>
              </a:rPr>
              <a:t>•  </a:t>
            </a:r>
            <a:r>
              <a:rPr sz="1350" b="1">
                <a:solidFill>
                  <a:srgbClr val="0F172A"/>
                </a:solidFill>
                <a:latin typeface="Calibri"/>
              </a:rPr>
              <a:t>Core Research Theme: </a:t>
            </a:r>
            <a:r>
              <a:rPr sz="1350">
                <a:solidFill>
                  <a:srgbClr val="334155"/>
                </a:solidFill>
                <a:latin typeface="Calibri"/>
              </a:rPr>
              <a:t>Exploring the potential of multi-agent systems (MAS) leveraging LLMs for complex task solving.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6236208"/>
            <a:ext cx="105457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6327648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Calibri"/>
              </a:rPr>
              <a:t>ResearchX Academic Automation Platform  |  College Final-Year Project Presentation</a:t>
            </a:r>
            <a:r>
              <a:rPr sz="900" b="1">
                <a:solidFill>
                  <a:srgbClr val="0F172A"/>
                </a:solidFill>
                <a:latin typeface="Calibri"/>
              </a:rPr>
              <a:t>             •             Slide 01 /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54577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Calibri"/>
              </a:defRPr>
            </a:pPr>
            <a:r>
              <a:t>RESEARCH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4360"/>
            <a:ext cx="10545775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Unlocking Complex Problem Solving with 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61872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i="1">
                <a:solidFill>
                  <a:srgbClr val="64748B"/>
                </a:solidFill>
                <a:latin typeface="Calibri"/>
              </a:rPr>
              <a:t>Addressing the challenge of intricate tasks beyond the capabilities of standalone LLMs.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6236208"/>
            <a:ext cx="105457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327648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Calibri"/>
              </a:rPr>
              <a:t>ResearchX Academic Automation Platform  |  College Final-Year Project Presentation</a:t>
            </a:r>
            <a:r>
              <a:rPr sz="900">
                <a:solidFill>
                  <a:srgbClr val="64748B"/>
                </a:solidFill>
                <a:latin typeface="Calibri"/>
              </a:rPr>
              <a:t>     •   research paper7   •     </a:t>
            </a:r>
            <a:r>
              <a:rPr sz="900" b="1">
                <a:solidFill>
                  <a:srgbClr val="0F172A"/>
                </a:solidFill>
                <a:latin typeface="Calibri"/>
              </a:rPr>
              <a:t>Slide 02 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719072"/>
            <a:ext cx="512064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719072"/>
            <a:ext cx="5120640" cy="438912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4F46E5"/>
                </a:solidFill>
                <a:latin typeface="Calibri"/>
              </a:rPr>
              <a:t>SCIENTIFIC CHALLENGES &amp; MOTIVATION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286000"/>
            <a:ext cx="457200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350" b="1">
                <a:solidFill>
                  <a:srgbClr val="4F46E5"/>
                </a:solidFill>
                <a:latin typeface="Calibri"/>
              </a:rPr>
              <a:t>•  </a:t>
            </a:r>
            <a:r>
              <a:rPr sz="1350" b="1">
                <a:solidFill>
                  <a:srgbClr val="0F172A"/>
                </a:solidFill>
                <a:latin typeface="Calibri"/>
              </a:rPr>
              <a:t>Scientific Challenge: </a:t>
            </a:r>
            <a:r>
              <a:rPr sz="1350">
                <a:solidFill>
                  <a:srgbClr val="334155"/>
                </a:solidFill>
                <a:latin typeface="Calibri"/>
              </a:rPr>
              <a:t>Solving complex problems that require diverse capabilities and multiple steps.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350" b="1">
                <a:solidFill>
                  <a:srgbClr val="4F46E5"/>
                </a:solidFill>
                <a:latin typeface="Calibri"/>
              </a:rPr>
              <a:t>•  </a:t>
            </a:r>
            <a:r>
              <a:rPr sz="1350" b="1">
                <a:solidFill>
                  <a:srgbClr val="0F172A"/>
                </a:solidFill>
                <a:latin typeface="Calibri"/>
              </a:rPr>
              <a:t>Industry &amp; Academic Urgency: </a:t>
            </a:r>
            <a:r>
              <a:rPr sz="1350">
                <a:solidFill>
                  <a:srgbClr val="334155"/>
                </a:solidFill>
                <a:latin typeface="Calibri"/>
              </a:rPr>
              <a:t>Standalone LLMs struggle with intricate tasks, necessitating a shift towards MAS.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1719072"/>
            <a:ext cx="512064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8095" y="1719072"/>
            <a:ext cx="5120640" cy="438912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563EB"/>
                </a:solidFill>
                <a:latin typeface="Calibri"/>
              </a:rPr>
              <a:t>INDUSTRY URGENCY &amp; RESEARCH OPPORTUNITY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2415" y="2286000"/>
            <a:ext cx="457200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350" b="1">
                <a:solidFill>
                  <a:srgbClr val="2563EB"/>
                </a:solidFill>
                <a:latin typeface="Calibri"/>
              </a:rPr>
              <a:t>•  </a:t>
            </a:r>
            <a:r>
              <a:rPr sz="1350" b="1">
                <a:solidFill>
                  <a:srgbClr val="0F172A"/>
                </a:solidFill>
                <a:latin typeface="Calibri"/>
              </a:rPr>
              <a:t>Critical Bottleneck: </a:t>
            </a:r>
            <a:r>
              <a:rPr sz="1350">
                <a:solidFill>
                  <a:srgbClr val="334155"/>
                </a:solidFill>
                <a:latin typeface="Calibri"/>
              </a:rPr>
              <a:t>Designing effective connections and configurations of agents to solve given problems.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350" b="1">
                <a:solidFill>
                  <a:srgbClr val="2563EB"/>
                </a:solidFill>
                <a:latin typeface="Calibri"/>
              </a:rPr>
              <a:t>•  </a:t>
            </a:r>
            <a:r>
              <a:rPr sz="1350" b="1">
                <a:solidFill>
                  <a:srgbClr val="0F172A"/>
                </a:solidFill>
                <a:latin typeface="Calibri"/>
              </a:rPr>
              <a:t>Research Opportunity: </a:t>
            </a:r>
            <a:r>
              <a:rPr sz="1350">
                <a:solidFill>
                  <a:srgbClr val="334155"/>
                </a:solidFill>
                <a:latin typeface="Calibri"/>
              </a:rPr>
              <a:t>MAS-ZERO offers a dynamic, self-evolved approach to automatic MAS design.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54577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Calibri"/>
              </a:defRPr>
            </a:pPr>
            <a:r>
              <a:t>PROBLEM 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4360"/>
            <a:ext cx="10545775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Overcoming Manual Design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61872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i="1">
                <a:solidFill>
                  <a:srgbClr val="64748B"/>
                </a:solidFill>
                <a:latin typeface="Calibri"/>
              </a:rPr>
              <a:t>Developing an automatic, adaptable MAS design framework.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6236208"/>
            <a:ext cx="105457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327648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Calibri"/>
              </a:rPr>
              <a:t>ResearchX Academic Automation Platform  |  College Final-Year Project Presentation</a:t>
            </a:r>
            <a:r>
              <a:rPr sz="900">
                <a:solidFill>
                  <a:srgbClr val="64748B"/>
                </a:solidFill>
                <a:latin typeface="Calibri"/>
              </a:rPr>
              <a:t>     •   research paper7   •     </a:t>
            </a:r>
            <a:r>
              <a:rPr sz="900" b="1">
                <a:solidFill>
                  <a:srgbClr val="0F172A"/>
                </a:solidFill>
                <a:latin typeface="Calibri"/>
              </a:rPr>
              <a:t>Slide 03 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719072"/>
            <a:ext cx="512064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719072"/>
            <a:ext cx="5120640" cy="438912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4F46E5"/>
                </a:solidFill>
                <a:latin typeface="Calibri"/>
              </a:rPr>
              <a:t>PROBLEM FORMULATION &amp; 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286000"/>
            <a:ext cx="457200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4F46E5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Primary Objective: </a:t>
            </a:r>
            <a:r>
              <a:rPr sz="1500">
                <a:solidFill>
                  <a:srgbClr val="334155"/>
                </a:solidFill>
                <a:latin typeface="Calibri"/>
              </a:rPr>
              <a:t>Create a self-evolved, inference-time framework for automatic MAS design.</a:t>
            </a:r>
          </a:p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4F46E5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Secondary Aims: </a:t>
            </a:r>
            <a:r>
              <a:rPr sz="1500">
                <a:solidFill>
                  <a:srgbClr val="334155"/>
                </a:solidFill>
                <a:latin typeface="Calibri"/>
              </a:rPr>
              <a:t>Iterative design, critique, and refinement of MAS configurations tailored to each problem.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1719072"/>
            <a:ext cx="512064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8095" y="1719072"/>
            <a:ext cx="5120640" cy="438912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563EB"/>
                </a:solidFill>
                <a:latin typeface="Calibri"/>
              </a:rPr>
              <a:t>CORE RESEARCH OBJECTIVES &amp; DELIVERABLES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2415" y="2286000"/>
            <a:ext cx="457200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350" b="1">
                <a:solidFill>
                  <a:srgbClr val="2563EB"/>
                </a:solidFill>
                <a:latin typeface="Calibri"/>
              </a:rPr>
              <a:t>•  </a:t>
            </a:r>
            <a:r>
              <a:rPr sz="1350" b="1">
                <a:solidFill>
                  <a:srgbClr val="0F172A"/>
                </a:solidFill>
                <a:latin typeface="Calibri"/>
              </a:rPr>
              <a:t>Theoretical Scope: </a:t>
            </a:r>
            <a:r>
              <a:rPr sz="1350">
                <a:solidFill>
                  <a:srgbClr val="334155"/>
                </a:solidFill>
                <a:latin typeface="Calibri"/>
              </a:rPr>
              <a:t>Focus on LLM-based agents within a MAS, exploring various roles and communication protocols.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350" b="1">
                <a:solidFill>
                  <a:srgbClr val="2563EB"/>
                </a:solidFill>
                <a:latin typeface="Calibri"/>
              </a:rPr>
              <a:t>•  </a:t>
            </a:r>
            <a:r>
              <a:rPr sz="1350" b="1">
                <a:solidFill>
                  <a:srgbClr val="0F172A"/>
                </a:solidFill>
                <a:latin typeface="Calibri"/>
              </a:rPr>
              <a:t>Expected Outcome: </a:t>
            </a:r>
            <a:r>
              <a:rPr sz="1350">
                <a:solidFill>
                  <a:srgbClr val="334155"/>
                </a:solidFill>
                <a:latin typeface="Calibri"/>
              </a:rPr>
              <a:t>Dynamic problem decomposition, agent composition, and reduction to simpler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54577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Calibri"/>
              </a:defRPr>
            </a:pPr>
            <a:r>
              <a:t>LITERATURE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4360"/>
            <a:ext cx="10545775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Limitations of Existing MAS Approaches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61872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i="1">
                <a:solidFill>
                  <a:srgbClr val="64748B"/>
                </a:solidFill>
                <a:latin typeface="Calibri"/>
              </a:rPr>
              <a:t>Addressing the shortcomings of manual and automatic MAS methods.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6236208"/>
            <a:ext cx="105457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327648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Calibri"/>
              </a:rPr>
              <a:t>ResearchX Academic Automation Platform  |  College Final-Year Project Presentation</a:t>
            </a:r>
            <a:r>
              <a:rPr sz="900">
                <a:solidFill>
                  <a:srgbClr val="64748B"/>
                </a:solidFill>
                <a:latin typeface="Calibri"/>
              </a:rPr>
              <a:t>     •   research paper7   •     </a:t>
            </a:r>
            <a:r>
              <a:rPr sz="900" b="1">
                <a:solidFill>
                  <a:srgbClr val="0F172A"/>
                </a:solidFill>
                <a:latin typeface="Calibri"/>
              </a:rPr>
              <a:t>Slide 04 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719072"/>
            <a:ext cx="512064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719072"/>
            <a:ext cx="5120640" cy="438912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4F46E5"/>
                </a:solidFill>
                <a:latin typeface="Calibri"/>
              </a:rPr>
              <a:t>STATE-OF-THE-ART &amp; PRIOR APPROACHES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286000"/>
            <a:ext cx="457200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4F46E5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Foundational Approaches: </a:t>
            </a:r>
            <a:r>
              <a:rPr sz="1500">
                <a:solidFill>
                  <a:srgbClr val="334155"/>
                </a:solidFill>
                <a:latin typeface="Calibri"/>
              </a:rPr>
              <a:t>Handcrafted MAS with human-designed agent roles and protocols.</a:t>
            </a:r>
          </a:p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4F46E5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Inherent Constraints: </a:t>
            </a:r>
            <a:r>
              <a:rPr sz="1500">
                <a:solidFill>
                  <a:srgbClr val="334155"/>
                </a:solidFill>
                <a:latin typeface="Calibri"/>
              </a:rPr>
              <a:t>Failure to align with LLM strengths and adapt to novel tasks.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1719072"/>
            <a:ext cx="512064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8095" y="1719072"/>
            <a:ext cx="5120640" cy="438912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563EB"/>
                </a:solidFill>
                <a:latin typeface="Calibri"/>
              </a:rPr>
              <a:t>CRITICAL BOTTLENECKS &amp; BRIDGED GAP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2415" y="2286000"/>
            <a:ext cx="457200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Efficiency Bottlenecks: </a:t>
            </a:r>
            <a:r>
              <a:rPr sz="1500">
                <a:solidFill>
                  <a:srgbClr val="334155"/>
                </a:solidFill>
                <a:latin typeface="Calibri"/>
              </a:rPr>
              <a:t>Automatic MAS approaches require validation sets and yield static designs.</a:t>
            </a:r>
          </a:p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Identified Research Gap: </a:t>
            </a:r>
            <a:r>
              <a:rPr sz="1500">
                <a:solidFill>
                  <a:srgbClr val="334155"/>
                </a:solidFill>
                <a:latin typeface="Calibri"/>
              </a:rPr>
              <a:t>MAS-ZERO offers dynamic problem decomposition and agent composition.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54577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4360"/>
            <a:ext cx="10545775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MAS-ZERO: A Meta-Level Design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61872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i="1">
                <a:solidFill>
                  <a:srgbClr val="64748B"/>
                </a:solidFill>
                <a:latin typeface="Calibri"/>
              </a:rPr>
              <a:t>Introducing a meta-agent for iterative MAS design and refinement.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6236208"/>
            <a:ext cx="105457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327648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Calibri"/>
              </a:rPr>
              <a:t>ResearchX Academic Automation Platform  |  College Final-Year Project Presentation</a:t>
            </a:r>
            <a:r>
              <a:rPr sz="900">
                <a:solidFill>
                  <a:srgbClr val="64748B"/>
                </a:solidFill>
                <a:latin typeface="Calibri"/>
              </a:rPr>
              <a:t>     •   research paper7   •     </a:t>
            </a:r>
            <a:r>
              <a:rPr sz="900" b="1">
                <a:solidFill>
                  <a:srgbClr val="0F172A"/>
                </a:solidFill>
                <a:latin typeface="Calibri"/>
              </a:rPr>
              <a:t>Slide 05 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719072"/>
            <a:ext cx="512064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719072"/>
            <a:ext cx="5120640" cy="438912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4F46E5"/>
                </a:solidFill>
                <a:latin typeface="Calibri"/>
              </a:rPr>
              <a:t>THEORETICAL FRAMEWORK &amp; CORE MODULES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286000"/>
            <a:ext cx="457200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4F46E5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System Architecture: </a:t>
            </a:r>
            <a:r>
              <a:rPr sz="1500">
                <a:solidFill>
                  <a:srgbClr val="334155"/>
                </a:solidFill>
                <a:latin typeface="Calibri"/>
              </a:rPr>
              <a:t>Meta-agent for dynamic problem decomposition and agent assignment.</a:t>
            </a:r>
          </a:p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4F46E5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Core Methodology: </a:t>
            </a:r>
            <a:r>
              <a:rPr sz="1500">
                <a:solidFill>
                  <a:srgbClr val="334155"/>
                </a:solidFill>
                <a:latin typeface="Calibri"/>
              </a:rPr>
              <a:t>Iterative design, critique, and refinement based on solvability and completeness.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1719072"/>
            <a:ext cx="512064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8095" y="1719072"/>
            <a:ext cx="5120640" cy="438912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563EB"/>
                </a:solidFill>
                <a:latin typeface="Calibri"/>
              </a:rPr>
              <a:t>DATA FLOW &amp; ARCHITECTURAL MECHANICS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2415" y="2286000"/>
            <a:ext cx="457200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350" b="1">
                <a:solidFill>
                  <a:srgbClr val="2563EB"/>
                </a:solidFill>
                <a:latin typeface="Calibri"/>
              </a:rPr>
              <a:t>•  </a:t>
            </a:r>
            <a:r>
              <a:rPr sz="1350" b="1">
                <a:solidFill>
                  <a:srgbClr val="0F172A"/>
                </a:solidFill>
                <a:latin typeface="Calibri"/>
              </a:rPr>
              <a:t>Data Flow &amp; Pipeline: </a:t>
            </a:r>
            <a:r>
              <a:rPr sz="1350">
                <a:solidFill>
                  <a:srgbClr val="334155"/>
                </a:solidFill>
                <a:latin typeface="Calibri"/>
              </a:rPr>
              <a:t>Sub-tasks are decomposed and assigned to sub-MAS, with outputs building upon each other.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350" b="1">
                <a:solidFill>
                  <a:srgbClr val="2563EB"/>
                </a:solidFill>
                <a:latin typeface="Calibri"/>
              </a:rPr>
              <a:t>•  </a:t>
            </a:r>
            <a:r>
              <a:rPr sz="1350" b="1">
                <a:solidFill>
                  <a:srgbClr val="0F172A"/>
                </a:solidFill>
                <a:latin typeface="Calibri"/>
              </a:rPr>
              <a:t>Design Philosophy: </a:t>
            </a:r>
            <a:r>
              <a:rPr sz="1350">
                <a:solidFill>
                  <a:srgbClr val="334155"/>
                </a:solidFill>
                <a:latin typeface="Calibri"/>
              </a:rPr>
              <a:t>Balancing exploration and improvement without arbitrary invention or pruning.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54577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Calibri"/>
              </a:defRPr>
            </a:pPr>
            <a:r>
              <a:t>TECHNICAL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4360"/>
            <a:ext cx="10545775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MAS-ZERO's Algorithmic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61872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i="1">
                <a:solidFill>
                  <a:srgbClr val="64748B"/>
                </a:solidFill>
                <a:latin typeface="Calibri"/>
              </a:rPr>
              <a:t>A step-by-step process for automatic MAS design.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6236208"/>
            <a:ext cx="105457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327648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Calibri"/>
              </a:rPr>
              <a:t>ResearchX Academic Automation Platform  |  College Final-Year Project Presentation</a:t>
            </a:r>
            <a:r>
              <a:rPr sz="900">
                <a:solidFill>
                  <a:srgbClr val="64748B"/>
                </a:solidFill>
                <a:latin typeface="Calibri"/>
              </a:rPr>
              <a:t>     •   research paper7   •     </a:t>
            </a:r>
            <a:r>
              <a:rPr sz="900" b="1">
                <a:solidFill>
                  <a:srgbClr val="0F172A"/>
                </a:solidFill>
                <a:latin typeface="Calibri"/>
              </a:rPr>
              <a:t>Slide 06 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719072"/>
            <a:ext cx="512064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719072"/>
            <a:ext cx="5120640" cy="438912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4F46E5"/>
                </a:solidFill>
                <a:latin typeface="Calibri"/>
              </a:rPr>
              <a:t>ALGORITHMIC MECHANICS &amp; FORMULATION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286000"/>
            <a:ext cx="457200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4F46E5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Core Algorithm: </a:t>
            </a:r>
            <a:r>
              <a:rPr sz="1500">
                <a:solidFill>
                  <a:srgbClr val="334155"/>
                </a:solidFill>
                <a:latin typeface="Calibri"/>
              </a:rPr>
              <a:t>Meta-agent assigns sub-MAS to sub-tasks, modifying connections and parameters.</a:t>
            </a:r>
          </a:p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4F46E5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Loss Functions &amp; Formulations: </a:t>
            </a:r>
            <a:r>
              <a:rPr sz="1500">
                <a:solidFill>
                  <a:srgbClr val="334155"/>
                </a:solidFill>
                <a:latin typeface="Calibri"/>
              </a:rPr>
              <a:t>Not specified in the paper.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1719072"/>
            <a:ext cx="512064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8095" y="1719072"/>
            <a:ext cx="5120640" cy="438912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563EB"/>
                </a:solidFill>
                <a:latin typeface="Calibri"/>
              </a:rPr>
              <a:t>SYSTEM PIPELINE &amp; COMPUTATIONAL PROTOCOLS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2415" y="2286000"/>
            <a:ext cx="457200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Hyperparameters &amp; Dynamics: </a:t>
            </a:r>
            <a:r>
              <a:rPr sz="1500">
                <a:solidFill>
                  <a:srgbClr val="334155"/>
                </a:solidFill>
                <a:latin typeface="Calibri"/>
              </a:rPr>
              <a:t>Temperature, number of debate rounds, and other block parameters.</a:t>
            </a:r>
          </a:p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Implementation Highlights: </a:t>
            </a:r>
            <a:r>
              <a:rPr sz="1500">
                <a:solidFill>
                  <a:srgbClr val="334155"/>
                </a:solidFill>
                <a:latin typeface="Calibri"/>
              </a:rPr>
              <a:t>Utilizes LLMs for grammar polishing and code generation.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54577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Calibri"/>
              </a:defRPr>
            </a:pPr>
            <a:r>
              <a:t>EXPERIMENTAL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4360"/>
            <a:ext cx="10545775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Evaluating MAS-ZERO's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61872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i="1">
                <a:solidFill>
                  <a:srgbClr val="64748B"/>
                </a:solidFill>
                <a:latin typeface="Calibri"/>
              </a:rPr>
              <a:t>Comprehensive evaluation across diverse benchmarks.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6236208"/>
            <a:ext cx="105457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327648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Calibri"/>
              </a:rPr>
              <a:t>ResearchX Academic Automation Platform  |  College Final-Year Project Presentation</a:t>
            </a:r>
            <a:r>
              <a:rPr sz="900">
                <a:solidFill>
                  <a:srgbClr val="64748B"/>
                </a:solidFill>
                <a:latin typeface="Calibri"/>
              </a:rPr>
              <a:t>     •   research paper7   •     </a:t>
            </a:r>
            <a:r>
              <a:rPr sz="900" b="1">
                <a:solidFill>
                  <a:srgbClr val="0F172A"/>
                </a:solidFill>
                <a:latin typeface="Calibri"/>
              </a:rPr>
              <a:t>Slide 07 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719072"/>
            <a:ext cx="512064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719072"/>
            <a:ext cx="5120640" cy="438912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4F46E5"/>
                </a:solidFill>
                <a:latin typeface="Calibri"/>
              </a:rPr>
              <a:t>BENCHMARK DATASETS &amp; HARDWARE SETUP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286000"/>
            <a:ext cx="457200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4F46E5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Benchmark Datasets: </a:t>
            </a:r>
            <a:r>
              <a:rPr sz="1500">
                <a:solidFill>
                  <a:srgbClr val="334155"/>
                </a:solidFill>
                <a:latin typeface="Calibri"/>
              </a:rPr>
              <a:t>Reasoning (math and graduate-level QA), coding, and agentic tasks.</a:t>
            </a:r>
          </a:p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4F46E5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Baseline Models: </a:t>
            </a:r>
            <a:r>
              <a:rPr sz="1500">
                <a:solidFill>
                  <a:srgbClr val="334155"/>
                </a:solidFill>
                <a:latin typeface="Calibri"/>
              </a:rPr>
              <a:t>CoT, CoT-SC, Self-Refine, and Debate building blocks.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1719072"/>
            <a:ext cx="512064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8095" y="1719072"/>
            <a:ext cx="5120640" cy="438912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563EB"/>
                </a:solidFill>
                <a:latin typeface="Calibri"/>
              </a:rPr>
              <a:t>COMPARATIVE BASELINES &amp; EVALUATION METRICS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2415" y="2286000"/>
            <a:ext cx="457200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Evaluation Metrics: </a:t>
            </a:r>
            <a:r>
              <a:rPr sz="1500">
                <a:solidFill>
                  <a:srgbClr val="334155"/>
                </a:solidFill>
                <a:latin typeface="Calibri"/>
              </a:rPr>
              <a:t>Accuracy improvements on reasoning, coding, and agentic tasks.</a:t>
            </a:r>
          </a:p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Hardware &amp; Environment: </a:t>
            </a:r>
            <a:r>
              <a:rPr sz="1500">
                <a:solidFill>
                  <a:srgbClr val="334155"/>
                </a:solidFill>
                <a:latin typeface="Calibri"/>
              </a:rPr>
              <a:t>Closed-source and open-source LLM backbones of varying sizes.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54577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Calibri"/>
              </a:defRPr>
            </a:pPr>
            <a:r>
              <a:t>EMPIRICAL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4360"/>
            <a:ext cx="10545775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MAS-ZERO's Superior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61872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i="1">
                <a:solidFill>
                  <a:srgbClr val="64748B"/>
                </a:solidFill>
                <a:latin typeface="Calibri"/>
              </a:rPr>
              <a:t>Outstanding accuracy improvements across tasks.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6236208"/>
            <a:ext cx="105457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327648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Calibri"/>
              </a:rPr>
              <a:t>ResearchX Academic Automation Platform  |  College Final-Year Project Presentation</a:t>
            </a:r>
            <a:r>
              <a:rPr sz="900">
                <a:solidFill>
                  <a:srgbClr val="64748B"/>
                </a:solidFill>
                <a:latin typeface="Calibri"/>
              </a:rPr>
              <a:t>     •   research paper7   •     </a:t>
            </a:r>
            <a:r>
              <a:rPr sz="900" b="1">
                <a:solidFill>
                  <a:srgbClr val="0F172A"/>
                </a:solidFill>
                <a:latin typeface="Calibri"/>
              </a:rPr>
              <a:t>Slide 08 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719072"/>
            <a:ext cx="512064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719072"/>
            <a:ext cx="5120640" cy="438912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4F46E5"/>
                </a:solidFill>
                <a:latin typeface="Calibri"/>
              </a:rPr>
              <a:t>PRIMARY BENCHMARK FINDINGS &amp; GAINS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286000"/>
            <a:ext cx="457200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4F46E5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Primary Performance: </a:t>
            </a:r>
            <a:r>
              <a:rPr sz="1500">
                <a:solidFill>
                  <a:srgbClr val="334155"/>
                </a:solidFill>
                <a:latin typeface="Calibri"/>
              </a:rPr>
              <a:t>Up to 16.69% accuracy improvement on reasoning tasks.</a:t>
            </a:r>
          </a:p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4F46E5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Direct Baseline Comparison: </a:t>
            </a:r>
            <a:r>
              <a:rPr sz="1500">
                <a:solidFill>
                  <a:srgbClr val="334155"/>
                </a:solidFill>
                <a:latin typeface="Calibri"/>
              </a:rPr>
              <a:t>Outperforms manual and automatic MAS baselines.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1719072"/>
            <a:ext cx="512064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8095" y="1719072"/>
            <a:ext cx="5120640" cy="438912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563EB"/>
                </a:solidFill>
                <a:latin typeface="Calibri"/>
              </a:rPr>
              <a:t>COMPARATIVE ANALYSIS &amp; SOTA PERFORMANCE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2415" y="2286000"/>
            <a:ext cx="457200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Efficiency Metrics: </a:t>
            </a:r>
            <a:r>
              <a:rPr sz="1500">
                <a:solidFill>
                  <a:srgbClr val="334155"/>
                </a:solidFill>
                <a:latin typeface="Calibri"/>
              </a:rPr>
              <a:t>Maintains cost efficiency despite improved accuracy.</a:t>
            </a:r>
          </a:p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Empirical Significance: </a:t>
            </a:r>
            <a:r>
              <a:rPr sz="1500">
                <a:solidFill>
                  <a:srgbClr val="334155"/>
                </a:solidFill>
                <a:latin typeface="Calibri"/>
              </a:rPr>
              <a:t>Consistent and robust performance across trials.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54577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Calibri"/>
              </a:defRPr>
            </a:pPr>
            <a:r>
              <a:t>EMPIRICAL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4360"/>
            <a:ext cx="10545775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Analyzing MAS-ZERO's Strengths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61872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i="1">
                <a:solidFill>
                  <a:srgbClr val="64748B"/>
                </a:solidFill>
                <a:latin typeface="Calibri"/>
              </a:rPr>
              <a:t>Understanding the impact of dynamic problem decomposition.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6236208"/>
            <a:ext cx="105457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327648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Calibri"/>
              </a:rPr>
              <a:t>ResearchX Academic Automation Platform  |  College Final-Year Project Presentation</a:t>
            </a:r>
            <a:r>
              <a:rPr sz="900">
                <a:solidFill>
                  <a:srgbClr val="64748B"/>
                </a:solidFill>
                <a:latin typeface="Calibri"/>
              </a:rPr>
              <a:t>     •   research paper7   •     </a:t>
            </a:r>
            <a:r>
              <a:rPr sz="900" b="1">
                <a:solidFill>
                  <a:srgbClr val="0F172A"/>
                </a:solidFill>
                <a:latin typeface="Calibri"/>
              </a:rPr>
              <a:t>Slide 09 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719072"/>
            <a:ext cx="512064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719072"/>
            <a:ext cx="5120640" cy="438912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4F46E5"/>
                </a:solidFill>
                <a:latin typeface="Calibri"/>
              </a:rPr>
              <a:t>PRIMARY BENCHMARK FINDINGS &amp; GAINS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286000"/>
            <a:ext cx="457200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4F46E5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Ablation Findings: </a:t>
            </a:r>
            <a:r>
              <a:rPr sz="1500">
                <a:solidFill>
                  <a:srgbClr val="334155"/>
                </a:solidFill>
                <a:latin typeface="Calibri"/>
              </a:rPr>
              <a:t>Dynamic problem decomposition and agent composition yield higher gains.</a:t>
            </a:r>
          </a:p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4F46E5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Sensitivity Analysis: </a:t>
            </a:r>
            <a:r>
              <a:rPr sz="1500">
                <a:solidFill>
                  <a:srgbClr val="334155"/>
                </a:solidFill>
                <a:latin typeface="Calibri"/>
              </a:rPr>
              <a:t>Robust performance across variations in hyperparameters.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1719072"/>
            <a:ext cx="512064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8095" y="1719072"/>
            <a:ext cx="5120640" cy="438912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563EB"/>
                </a:solidFill>
                <a:latin typeface="Calibri"/>
              </a:rPr>
              <a:t>COMPARATIVE ANALYSIS &amp; SOTA PERFORMANCE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2415" y="2286000"/>
            <a:ext cx="457200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Failure Cases &amp; Outliers: </a:t>
            </a:r>
            <a:r>
              <a:rPr sz="1500">
                <a:solidFill>
                  <a:srgbClr val="334155"/>
                </a:solidFill>
                <a:latin typeface="Calibri"/>
              </a:rPr>
              <a:t>Not specified in the paper.</a:t>
            </a:r>
          </a:p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Convergence Behavior: </a:t>
            </a:r>
            <a:r>
              <a:rPr sz="1500">
                <a:solidFill>
                  <a:srgbClr val="334155"/>
                </a:solidFill>
                <a:latin typeface="Calibri"/>
              </a:rPr>
              <a:t>Stable optimization and scaling.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54577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Calibri"/>
              </a:defRPr>
            </a:pPr>
            <a:r>
              <a:t>RESEARCH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4360"/>
            <a:ext cx="10545775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MAS-ZERO's Revolutionary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61872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i="1">
                <a:solidFill>
                  <a:srgbClr val="64748B"/>
                </a:solidFill>
                <a:latin typeface="Calibri"/>
              </a:rPr>
              <a:t>Advancing the state of the art in MAS design.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6236208"/>
            <a:ext cx="105457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327648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Calibri"/>
              </a:rPr>
              <a:t>ResearchX Academic Automation Platform  |  College Final-Year Project Presentation</a:t>
            </a:r>
            <a:r>
              <a:rPr sz="900">
                <a:solidFill>
                  <a:srgbClr val="64748B"/>
                </a:solidFill>
                <a:latin typeface="Calibri"/>
              </a:rPr>
              <a:t>     •   research paper7   •     </a:t>
            </a:r>
            <a:r>
              <a:rPr sz="900" b="1">
                <a:solidFill>
                  <a:srgbClr val="0F172A"/>
                </a:solidFill>
                <a:latin typeface="Calibri"/>
              </a:rPr>
              <a:t>Slide 10 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719072"/>
            <a:ext cx="512064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719072"/>
            <a:ext cx="5120640" cy="438912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4F46E5"/>
                </a:solidFill>
                <a:latin typeface="Calibri"/>
              </a:rPr>
              <a:t>NOVEL TECHNICAL CONTRIBUTIONS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286000"/>
            <a:ext cx="457200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4F46E5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Primary Innovation: </a:t>
            </a:r>
            <a:r>
              <a:rPr sz="1500">
                <a:solidFill>
                  <a:srgbClr val="334155"/>
                </a:solidFill>
                <a:latin typeface="Calibri"/>
              </a:rPr>
              <a:t>First self-evolved, inference-time framework for automatic MAS design.</a:t>
            </a:r>
          </a:p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4F46E5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Theoretical Advance: </a:t>
            </a:r>
            <a:r>
              <a:rPr sz="1500">
                <a:solidFill>
                  <a:srgbClr val="334155"/>
                </a:solidFill>
                <a:latin typeface="Calibri"/>
              </a:rPr>
              <a:t>Meta-level design for iterative MAS refinement.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1719072"/>
            <a:ext cx="512064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8095" y="1719072"/>
            <a:ext cx="5120640" cy="438912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563EB"/>
                </a:solidFill>
                <a:latin typeface="Calibri"/>
              </a:rPr>
              <a:t>METHODOLOGICAL ADVANTAGES &amp; SIGNIFICANCE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2415" y="2286000"/>
            <a:ext cx="457200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Practical Utility: </a:t>
            </a:r>
            <a:r>
              <a:rPr sz="1500">
                <a:solidFill>
                  <a:srgbClr val="334155"/>
                </a:solidFill>
                <a:latin typeface="Calibri"/>
              </a:rPr>
              <a:t>Dynamic problem decomposition and agent composition for complex tasks.</a:t>
            </a:r>
          </a:p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Scholarly Impact: </a:t>
            </a:r>
            <a:r>
              <a:rPr sz="1500">
                <a:solidFill>
                  <a:srgbClr val="334155"/>
                </a:solidFill>
                <a:latin typeface="Calibri"/>
              </a:rPr>
              <a:t>MAS-ZERO sets a new standard for efficient and adaptable MAS design.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54577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Calibri"/>
              </a:defRPr>
            </a:pPr>
            <a:r>
              <a:t>CONCLUSION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4360"/>
            <a:ext cx="10545775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Future Opportunities with MAS-ZERO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61872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i="1">
                <a:solidFill>
                  <a:srgbClr val="64748B"/>
                </a:solidFill>
                <a:latin typeface="Calibri"/>
              </a:rPr>
              <a:t>Exploring the potential of MAS-ZERO and its impact.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6236208"/>
            <a:ext cx="105457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327648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Calibri"/>
              </a:rPr>
              <a:t>ResearchX Academic Automation Platform  |  College Final-Year Project Presentation</a:t>
            </a:r>
            <a:r>
              <a:rPr sz="900">
                <a:solidFill>
                  <a:srgbClr val="64748B"/>
                </a:solidFill>
                <a:latin typeface="Calibri"/>
              </a:rPr>
              <a:t>     •   research paper7   •     </a:t>
            </a:r>
            <a:r>
              <a:rPr sz="900" b="1">
                <a:solidFill>
                  <a:srgbClr val="0F172A"/>
                </a:solidFill>
                <a:latin typeface="Calibri"/>
              </a:rPr>
              <a:t>Slide 11 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719072"/>
            <a:ext cx="512064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719072"/>
            <a:ext cx="5120640" cy="438912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4F46E5"/>
                </a:solidFill>
                <a:latin typeface="Calibri"/>
              </a:rPr>
              <a:t>SYNTHESIS OF EMPIRICAL FINDINGS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286000"/>
            <a:ext cx="457200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4F46E5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Identified Limitations: </a:t>
            </a:r>
            <a:r>
              <a:rPr sz="1500">
                <a:solidFill>
                  <a:srgbClr val="334155"/>
                </a:solidFill>
                <a:latin typeface="Calibri"/>
              </a:rPr>
              <a:t>Need for further exploration of failure cases and outliers.</a:t>
            </a:r>
          </a:p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4F46E5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Summary of Findings: </a:t>
            </a:r>
            <a:r>
              <a:rPr sz="1500">
                <a:solidFill>
                  <a:srgbClr val="334155"/>
                </a:solidFill>
                <a:latin typeface="Calibri"/>
              </a:rPr>
              <a:t>MAS-ZERO's effectiveness in dynamic MAS design and improved performance.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1719072"/>
            <a:ext cx="512064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8095" y="1719072"/>
            <a:ext cx="5120640" cy="438912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563EB"/>
                </a:solidFill>
                <a:latin typeface="Calibri"/>
              </a:rPr>
              <a:t>LIMITATIONS &amp; FUTURE RESEARCH DIRECTIONS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2415" y="2286000"/>
            <a:ext cx="457200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Immediate Future Work: </a:t>
            </a:r>
            <a:r>
              <a:rPr sz="1500">
                <a:solidFill>
                  <a:srgbClr val="334155"/>
                </a:solidFill>
                <a:latin typeface="Calibri"/>
              </a:rPr>
              <a:t>Refinement of meta-feedback mechanisms and exploration of new building blocks.</a:t>
            </a:r>
          </a:p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Long-term Vision: </a:t>
            </a:r>
            <a:r>
              <a:rPr sz="1500">
                <a:solidFill>
                  <a:srgbClr val="334155"/>
                </a:solidFill>
                <a:latin typeface="Calibri"/>
              </a:rPr>
              <a:t>Widespread adoption of MAS-ZERO for complex problem-solving.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